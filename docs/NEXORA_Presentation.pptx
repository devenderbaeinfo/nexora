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75D61D-E338-4963-B018-43283508A5A1}" v="58" dt="2026-09-01T07:27:26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9af52f95-8c3e-450b-b865-8a6a2e451f4f::" providerId="AD" clId="Web-{3075D61D-E338-4963-B018-43283508A5A1}"/>
    <pc:docChg chg="modSld">
      <pc:chgData name="Guest User" userId="S::urn:spo:tenantanon#9af52f95-8c3e-450b-b865-8a6a2e451f4f::" providerId="AD" clId="Web-{3075D61D-E338-4963-B018-43283508A5A1}" dt="2026-09-01T07:27:26.972" v="57" actId="20577"/>
      <pc:docMkLst>
        <pc:docMk/>
      </pc:docMkLst>
      <pc:sldChg chg="modSp">
        <pc:chgData name="Guest User" userId="S::urn:spo:tenantanon#9af52f95-8c3e-450b-b865-8a6a2e451f4f::" providerId="AD" clId="Web-{3075D61D-E338-4963-B018-43283508A5A1}" dt="2026-09-01T07:26:57.691" v="18" actId="20577"/>
        <pc:sldMkLst>
          <pc:docMk/>
          <pc:sldMk cId="0" sldId="271"/>
        </pc:sldMkLst>
        <pc:spChg chg="mod">
          <ac:chgData name="Guest User" userId="S::urn:spo:tenantanon#9af52f95-8c3e-450b-b865-8a6a2e451f4f::" providerId="AD" clId="Web-{3075D61D-E338-4963-B018-43283508A5A1}" dt="2026-09-01T07:26:57.691" v="18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Guest User" userId="S::urn:spo:tenantanon#9af52f95-8c3e-450b-b865-8a6a2e451f4f::" providerId="AD" clId="Web-{3075D61D-E338-4963-B018-43283508A5A1}" dt="2026-09-01T07:27:11.504" v="45" actId="20577"/>
        <pc:sldMkLst>
          <pc:docMk/>
          <pc:sldMk cId="0" sldId="272"/>
        </pc:sldMkLst>
        <pc:spChg chg="mod">
          <ac:chgData name="Guest User" userId="S::urn:spo:tenantanon#9af52f95-8c3e-450b-b865-8a6a2e451f4f::" providerId="AD" clId="Web-{3075D61D-E338-4963-B018-43283508A5A1}" dt="2026-09-01T07:27:11.504" v="45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Guest User" userId="S::urn:spo:tenantanon#9af52f95-8c3e-450b-b865-8a6a2e451f4f::" providerId="AD" clId="Web-{3075D61D-E338-4963-B018-43283508A5A1}" dt="2026-09-01T07:27:26.972" v="57" actId="20577"/>
        <pc:sldMkLst>
          <pc:docMk/>
          <pc:sldMk cId="0" sldId="273"/>
        </pc:sldMkLst>
        <pc:spChg chg="mod">
          <ac:chgData name="Guest User" userId="S::urn:spo:tenantanon#9af52f95-8c3e-450b-b865-8a6a2e451f4f::" providerId="AD" clId="Web-{3075D61D-E338-4963-B018-43283508A5A1}" dt="2026-09-01T07:27:26.972" v="57" actId="20577"/>
          <ac:spMkLst>
            <pc:docMk/>
            <pc:sldMk cId="0" sldId="27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33E50-57D7-40F0-AD8C-3B0666318544}" type="datetimeFigureOut"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0F84F-9F11-432A-B360-78E4631213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3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ln w="19050">
            <a:solidFill>
              <a:srgbClr val="2E5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846320"/>
            <a:ext cx="3749040" cy="3749040"/>
          </a:xfrm>
          <a:prstGeom prst="ellipse">
            <a:avLst/>
          </a:prstGeom>
          <a:ln w="15875">
            <a:solidFill>
              <a:srgbClr val="B786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ARCHITECTURE OVERVIEW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NEXORA</a:t>
            </a:r>
            <a:endParaRPr lang="en-US" sz="800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enterprise operations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ERP Platform  —  Identity, Architecture, Modules &amp; Phased Delivery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September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DECK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One continuous thread.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summarizes NEXORA's identity, architecture, and phased delivery plan. Our organization is both the builder and the first production user — Phase 1 replaces our dependency on our existing Zoho ERP environment, while the platform underneath is architected to become a commercial, multi-tenant product.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7315200" y="141732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4721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6992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Design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7936992" y="1709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positioning, color system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7315200" y="2587752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4" y="264261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36992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/>
          </a:p>
        </p:txBody>
      </p:sp>
      <p:sp>
        <p:nvSpPr>
          <p:cNvPr id="12" name="Text 8"/>
          <p:cNvSpPr/>
          <p:nvPr/>
        </p:nvSpPr>
        <p:spPr>
          <a:xfrm>
            <a:off x="7936992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layers, security, data model</a:t>
            </a:r>
            <a:endParaRPr lang="en-US" sz="1150"/>
          </a:p>
        </p:txBody>
      </p:sp>
      <p:sp>
        <p:nvSpPr>
          <p:cNvPr id="13" name="Shape 9"/>
          <p:cNvSpPr/>
          <p:nvPr/>
        </p:nvSpPr>
        <p:spPr>
          <a:xfrm>
            <a:off x="7315200" y="3758184"/>
            <a:ext cx="457200" cy="45720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38130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6992" y="3730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/>
          </a:p>
        </p:txBody>
      </p:sp>
      <p:sp>
        <p:nvSpPr>
          <p:cNvPr id="16" name="Text 11"/>
          <p:cNvSpPr/>
          <p:nvPr/>
        </p:nvSpPr>
        <p:spPr>
          <a:xfrm>
            <a:off x="7936992" y="4050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functional surface, grouped</a:t>
            </a:r>
            <a:endParaRPr lang="en-US" sz="1150"/>
          </a:p>
        </p:txBody>
      </p:sp>
      <p:sp>
        <p:nvSpPr>
          <p:cNvPr id="17" name="Shape 12"/>
          <p:cNvSpPr/>
          <p:nvPr/>
        </p:nvSpPr>
        <p:spPr>
          <a:xfrm>
            <a:off x="7315200" y="4928616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498348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36992" y="49011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/>
          </a:p>
        </p:txBody>
      </p:sp>
      <p:sp>
        <p:nvSpPr>
          <p:cNvPr id="20" name="Text 14"/>
          <p:cNvSpPr/>
          <p:nvPr/>
        </p:nvSpPr>
        <p:spPr>
          <a:xfrm>
            <a:off x="7936992" y="52212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phases across 4 delivery stages</a:t>
            </a:r>
            <a:endParaRPr lang="en-US" sz="1150"/>
          </a:p>
        </p:txBody>
      </p:sp>
      <p:sp>
        <p:nvSpPr>
          <p:cNvPr id="21" name="Text 1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NEXORA means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2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NEXORA</a:t>
            </a:r>
            <a:endParaRPr lang="en-US" sz="340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combines “nexus” — a hub where connections converge — with a forward-looking suffix evoking a new horizon. It names what the platform actually is: a converging hub for every enterprise process, built for the next generation of enterprise operations.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“Next-generation enterprise operations”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Tagline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943600" y="14630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43600" y="175564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Process-to-Ledger ERP Platform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943600" y="26060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943600" y="289864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heavyweight suites (SAP, Oracle, Dynamics, Workday) and lightweight SMB tools (Zoho, Odoo)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943600" y="37490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CUSTOMER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943600" y="404164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organization — validated internally before external rollout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system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78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Navy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#1F3864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primary brand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496312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2496312" y="2578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Blue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2496312" y="2834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#2E5C8A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2496312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Sub-headings, secondary UI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443984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B7862C"/>
          </a:solidFill>
          <a:ln/>
        </p:spPr>
      </p:sp>
      <p:sp>
        <p:nvSpPr>
          <p:cNvPr id="13" name="Text 11"/>
          <p:cNvSpPr/>
          <p:nvPr/>
        </p:nvSpPr>
        <p:spPr>
          <a:xfrm>
            <a:off x="4443984" y="2578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Gold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443984" y="2834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#B7862C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Highlights, CTAs, metrics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391656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2578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Teal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391656" y="2834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#1D9E75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6391656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approvals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8339328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A32D2D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2578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Coral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8339328" y="2834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#A32D2D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8339328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risk flags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10287000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595959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7000" y="2578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Grey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10287000" y="2834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#595959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10287000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text, captions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48640" y="3977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palette is applied consistently across the product interface and every piece of NEXORA documentation — one dominant color (Navy), a supporting tone (Blue/Gold), and a sharp accent used sparingly for state (Teal = success, Coral = alert).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looks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0DFDA"/>
            </a:solidFill>
            <a:prstDash val="solid"/>
          </a:ln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73352"/>
            <a:ext cx="11064240" cy="2468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90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NEXORA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309360" y="1527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7863840" y="1527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Timecard &amp; Leave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9418320" y="1527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822960" y="219456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94560"/>
            <a:ext cx="64008" cy="9601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3042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 days</a:t>
            </a:r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3520440" y="219456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194560"/>
            <a:ext cx="64008" cy="960120"/>
          </a:xfrm>
          <a:prstGeom prst="rect">
            <a:avLst/>
          </a:prstGeom>
          <a:solidFill>
            <a:srgbClr val="B7862C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23042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3749040" y="25786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6217920" y="219456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194560"/>
            <a:ext cx="64008" cy="9601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042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Month's Expenses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446520" y="25786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Rs.18,400</a:t>
            </a:r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8915400" y="219456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2194560"/>
            <a:ext cx="64008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23042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Utilization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9144000" y="25786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2000"/>
          </a:p>
        </p:txBody>
      </p:sp>
      <p:sp>
        <p:nvSpPr>
          <p:cNvPr id="27" name="Shape 25"/>
          <p:cNvSpPr/>
          <p:nvPr/>
        </p:nvSpPr>
        <p:spPr>
          <a:xfrm>
            <a:off x="822960" y="3383280"/>
            <a:ext cx="6492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547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1300"/>
          </a:p>
        </p:txBody>
      </p:sp>
      <p:sp>
        <p:nvSpPr>
          <p:cNvPr id="29" name="Shape 27"/>
          <p:cNvSpPr/>
          <p:nvPr/>
        </p:nvSpPr>
        <p:spPr>
          <a:xfrm>
            <a:off x="1051560" y="3977640"/>
            <a:ext cx="6035040" cy="621792"/>
          </a:xfrm>
          <a:prstGeom prst="roundRect">
            <a:avLst>
              <a:gd name="adj" fmla="val 7353"/>
            </a:avLst>
          </a:prstGeom>
          <a:solidFill>
            <a:srgbClr val="F2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560" y="3977640"/>
            <a:ext cx="54864" cy="62179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1" name="Text 29"/>
          <p:cNvSpPr/>
          <p:nvPr/>
        </p:nvSpPr>
        <p:spPr>
          <a:xfrm>
            <a:off x="1234440" y="4050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Sick Leave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1234440" y="4315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Singh · Sep 2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5715000" y="4133088"/>
            <a:ext cx="1234440" cy="320040"/>
          </a:xfrm>
          <a:prstGeom prst="roundRect">
            <a:avLst>
              <a:gd name="adj" fmla="val 51429"/>
            </a:avLst>
          </a:prstGeom>
          <a:solidFill>
            <a:srgbClr val="1D9E75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41330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1051560" y="4754880"/>
            <a:ext cx="6035040" cy="621792"/>
          </a:xfrm>
          <a:prstGeom prst="roundRect">
            <a:avLst>
              <a:gd name="adj" fmla="val 7353"/>
            </a:avLst>
          </a:prstGeom>
          <a:solidFill>
            <a:srgbClr val="F2F6F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1560" y="4754880"/>
            <a:ext cx="54864" cy="621792"/>
          </a:xfrm>
          <a:prstGeom prst="rect">
            <a:avLst/>
          </a:prstGeom>
          <a:solidFill>
            <a:srgbClr val="B7862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4440" y="4828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Expense - Rs.8,000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1234440" y="50932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Singh · Sep 1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5715000" y="4910328"/>
            <a:ext cx="1234440" cy="320040"/>
          </a:xfrm>
          <a:prstGeom prst="roundRect">
            <a:avLst>
              <a:gd name="adj" fmla="val 51429"/>
            </a:avLst>
          </a:prstGeom>
          <a:solidFill>
            <a:srgbClr val="B7862C"/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0" y="4910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1051560" y="5532120"/>
            <a:ext cx="6035040" cy="621792"/>
          </a:xfrm>
          <a:prstGeom prst="roundRect">
            <a:avLst>
              <a:gd name="adj" fmla="val 7353"/>
            </a:avLst>
          </a:prstGeom>
          <a:solidFill>
            <a:srgbClr val="F2F6F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1560" y="5532120"/>
            <a:ext cx="54864" cy="621792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3" name="Text 41"/>
          <p:cNvSpPr/>
          <p:nvPr/>
        </p:nvSpPr>
        <p:spPr>
          <a:xfrm>
            <a:off x="1234440" y="5605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Leave - 2 days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1234440" y="58704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Mehta · Sep 5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5715000" y="5687568"/>
            <a:ext cx="1234440" cy="320040"/>
          </a:xfrm>
          <a:prstGeom prst="roundRect">
            <a:avLst>
              <a:gd name="adj" fmla="val 51429"/>
            </a:avLst>
          </a:prstGeom>
          <a:solidFill>
            <a:srgbClr val="2E5C8A"/>
          </a:solidFill>
          <a:ln/>
        </p:spPr>
      </p:sp>
      <p:sp>
        <p:nvSpPr>
          <p:cNvPr id="46" name="Text 44"/>
          <p:cNvSpPr/>
          <p:nvPr/>
        </p:nvSpPr>
        <p:spPr>
          <a:xfrm>
            <a:off x="5715000" y="56875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7498080" y="3383280"/>
            <a:ext cx="38404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26680" y="3547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Snapshot</a:t>
            </a:r>
            <a:endParaRPr lang="en-US" sz="1300"/>
          </a:p>
        </p:txBody>
      </p:sp>
      <p:sp>
        <p:nvSpPr>
          <p:cNvPr id="49" name="Text 47"/>
          <p:cNvSpPr/>
          <p:nvPr/>
        </p:nvSpPr>
        <p:spPr>
          <a:xfrm>
            <a:off x="772668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JE-1001  Travel Expense</a:t>
            </a:r>
            <a:endParaRPr lang="en-US" sz="1000"/>
          </a:p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Rs.8,000   CR Rs.0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7726680" y="4572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JE-1002  Employee Payable</a:t>
            </a:r>
            <a:endParaRPr lang="en-US" sz="1000"/>
          </a:p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Rs.0   CR Rs.8,000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7726680" y="521208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E8F6F0"/>
          </a:solidFill>
          <a:ln/>
        </p:spPr>
      </p:sp>
      <p:sp>
        <p:nvSpPr>
          <p:cNvPr id="52" name="Text 50"/>
          <p:cNvSpPr/>
          <p:nvPr/>
        </p:nvSpPr>
        <p:spPr>
          <a:xfrm>
            <a:off x="772668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balance: Rs.0.00 (balanced)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PHILOSOPHY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principles behind every decision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161483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630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1234440" y="180136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departmental databases</a:t>
            </a:r>
            <a:endParaRPr lang="en-US" sz="110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550" y="1614830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4630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first</a:t>
            </a:r>
            <a:endParaRPr lang="en-US" sz="1350"/>
          </a:p>
        </p:txBody>
      </p:sp>
      <p:sp>
        <p:nvSpPr>
          <p:cNvPr id="11" name="Text 7"/>
          <p:cNvSpPr/>
          <p:nvPr/>
        </p:nvSpPr>
        <p:spPr>
          <a:xfrm>
            <a:off x="6858000" y="180136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can talk to every other module</a:t>
            </a:r>
            <a:endParaRPr lang="en-US" sz="110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3077870"/>
            <a:ext cx="382219" cy="3822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926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over customization</a:t>
            </a:r>
            <a:endParaRPr lang="en-US" sz="1350"/>
          </a:p>
        </p:txBody>
      </p:sp>
      <p:sp>
        <p:nvSpPr>
          <p:cNvPr id="15" name="Text 10"/>
          <p:cNvSpPr/>
          <p:nvPr/>
        </p:nvSpPr>
        <p:spPr>
          <a:xfrm>
            <a:off x="1234440" y="326440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configure; engineers don't re-code</a:t>
            </a:r>
            <a:endParaRPr lang="en-US" sz="1100"/>
          </a:p>
        </p:txBody>
      </p:sp>
      <p:sp>
        <p:nvSpPr>
          <p:cNvPr id="16" name="Shape 11"/>
          <p:cNvSpPr/>
          <p:nvPr/>
        </p:nvSpPr>
        <p:spPr>
          <a:xfrm>
            <a:off x="6172200" y="301752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550" y="3077870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926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350"/>
          </a:p>
        </p:txBody>
      </p:sp>
      <p:sp>
        <p:nvSpPr>
          <p:cNvPr id="19" name="Text 13"/>
          <p:cNvSpPr/>
          <p:nvPr/>
        </p:nvSpPr>
        <p:spPr>
          <a:xfrm>
            <a:off x="6858000" y="326440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is reachable through an API</a:t>
            </a:r>
            <a:endParaRPr lang="en-US" sz="110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A32D2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" y="4540910"/>
            <a:ext cx="382219" cy="3822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389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350"/>
          </a:p>
        </p:txBody>
      </p:sp>
      <p:sp>
        <p:nvSpPr>
          <p:cNvPr id="23" name="Text 16"/>
          <p:cNvSpPr/>
          <p:nvPr/>
        </p:nvSpPr>
        <p:spPr>
          <a:xfrm>
            <a:off x="1234440" y="47274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from the first commit, not bolted on</a:t>
            </a:r>
            <a:endParaRPr lang="en-US" sz="1100"/>
          </a:p>
        </p:txBody>
      </p:sp>
      <p:sp>
        <p:nvSpPr>
          <p:cNvPr id="24" name="Shape 17"/>
          <p:cNvSpPr/>
          <p:nvPr/>
        </p:nvSpPr>
        <p:spPr>
          <a:xfrm>
            <a:off x="6172200" y="4480560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2550" y="4540910"/>
            <a:ext cx="382219" cy="38221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4389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from day one</a:t>
            </a:r>
            <a:endParaRPr lang="en-US" sz="1350"/>
          </a:p>
        </p:txBody>
      </p:sp>
      <p:sp>
        <p:nvSpPr>
          <p:cNvPr id="27" name="Text 19"/>
          <p:cNvSpPr/>
          <p:nvPr/>
        </p:nvSpPr>
        <p:spPr>
          <a:xfrm>
            <a:off x="6858000" y="47274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role, on any device</a:t>
            </a:r>
            <a:endParaRPr lang="en-US" sz="1100"/>
          </a:p>
        </p:txBody>
      </p:sp>
      <p:sp>
        <p:nvSpPr>
          <p:cNvPr id="28" name="Shape 20"/>
          <p:cNvSpPr/>
          <p:nvPr/>
        </p:nvSpPr>
        <p:spPr>
          <a:xfrm>
            <a:off x="548640" y="59436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990" y="6003950"/>
            <a:ext cx="382219" cy="38221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34440" y="58521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first</a:t>
            </a:r>
            <a:endParaRPr lang="en-US" sz="1350"/>
          </a:p>
        </p:txBody>
      </p:sp>
      <p:sp>
        <p:nvSpPr>
          <p:cNvPr id="31" name="Text 22"/>
          <p:cNvSpPr/>
          <p:nvPr/>
        </p:nvSpPr>
        <p:spPr>
          <a:xfrm>
            <a:off x="1234440" y="619048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org-specific, or a platform capability?</a:t>
            </a:r>
            <a:endParaRPr lang="en-US" sz="1100"/>
          </a:p>
        </p:txBody>
      </p:sp>
      <p:sp>
        <p:nvSpPr>
          <p:cNvPr id="32" name="Text 2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NEXORA different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23E70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1920240"/>
            <a:ext cx="566928" cy="566928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623" y="198827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974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process-to-ledger engine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713232" y="365760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action moves through the same policy → approval → ledger → audit pipeline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2798064" y="16002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23E70"/>
          </a:solidFill>
          <a:ln/>
        </p:spPr>
      </p:sp>
      <p:sp>
        <p:nvSpPr>
          <p:cNvPr id="10" name="Shape 7"/>
          <p:cNvSpPr/>
          <p:nvPr/>
        </p:nvSpPr>
        <p:spPr>
          <a:xfrm>
            <a:off x="3557016" y="1920240"/>
            <a:ext cx="566928" cy="566928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047" y="198827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2656" y="26974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Configuration-first, not code-first</a:t>
            </a:r>
            <a:endParaRPr lang="en-US" sz="1250"/>
          </a:p>
        </p:txBody>
      </p:sp>
      <p:sp>
        <p:nvSpPr>
          <p:cNvPr id="13" name="Text 9"/>
          <p:cNvSpPr/>
          <p:nvPr/>
        </p:nvSpPr>
        <p:spPr>
          <a:xfrm>
            <a:off x="2962656" y="365760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approval rule without a developer or deployment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5047488" y="16002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23E70"/>
          </a:solidFill>
          <a:ln/>
        </p:spPr>
      </p:sp>
      <p:sp>
        <p:nvSpPr>
          <p:cNvPr id="15" name="Shape 11"/>
          <p:cNvSpPr/>
          <p:nvPr/>
        </p:nvSpPr>
        <p:spPr>
          <a:xfrm>
            <a:off x="5806440" y="1920240"/>
            <a:ext cx="566928" cy="566928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471" y="1988271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6974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Internal-first validation</a:t>
            </a:r>
            <a:endParaRPr lang="en-US" sz="1250"/>
          </a:p>
        </p:txBody>
      </p:sp>
      <p:sp>
        <p:nvSpPr>
          <p:cNvPr id="18" name="Text 13"/>
          <p:cNvSpPr/>
          <p:nvPr/>
        </p:nvSpPr>
        <p:spPr>
          <a:xfrm>
            <a:off x="5212080" y="365760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employees, real transactions — before any external customer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7296912" y="16002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23E70"/>
          </a:solidFill>
          <a:ln/>
        </p:spPr>
      </p:sp>
      <p:sp>
        <p:nvSpPr>
          <p:cNvPr id="20" name="Shape 15"/>
          <p:cNvSpPr/>
          <p:nvPr/>
        </p:nvSpPr>
        <p:spPr>
          <a:xfrm>
            <a:off x="8055864" y="1920240"/>
            <a:ext cx="566928" cy="566928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895" y="1988271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1504" y="26974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intelligence</a:t>
            </a:r>
            <a:endParaRPr lang="en-US" sz="1250"/>
          </a:p>
        </p:txBody>
      </p:sp>
      <p:sp>
        <p:nvSpPr>
          <p:cNvPr id="23" name="Text 17"/>
          <p:cNvSpPr/>
          <p:nvPr/>
        </p:nvSpPr>
        <p:spPr>
          <a:xfrm>
            <a:off x="7461504" y="365760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why an approval took 4 days, not just that it did</a:t>
            </a:r>
            <a:endParaRPr lang="en-US" sz="1050"/>
          </a:p>
        </p:txBody>
      </p:sp>
      <p:sp>
        <p:nvSpPr>
          <p:cNvPr id="24" name="Shape 18"/>
          <p:cNvSpPr/>
          <p:nvPr/>
        </p:nvSpPr>
        <p:spPr>
          <a:xfrm>
            <a:off x="9546336" y="16002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23E70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05288" y="1920240"/>
            <a:ext cx="566928" cy="566928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3319" y="1988271"/>
            <a:ext cx="430865" cy="4308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10928" y="26974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integration architecture</a:t>
            </a:r>
            <a:endParaRPr lang="en-US" sz="1250"/>
          </a:p>
        </p:txBody>
      </p:sp>
      <p:sp>
        <p:nvSpPr>
          <p:cNvPr id="28" name="Text 21"/>
          <p:cNvSpPr/>
          <p:nvPr/>
        </p:nvSpPr>
        <p:spPr>
          <a:xfrm>
            <a:off x="9710928" y="365760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webhooks, events, and an SDK from day one</a:t>
            </a:r>
            <a:endParaRPr lang="en-US" sz="1050"/>
          </a:p>
        </p:txBody>
      </p:sp>
      <p:sp>
        <p:nvSpPr>
          <p:cNvPr id="29" name="Text 2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positioned between two extremes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645920" y="1554480"/>
            <a:ext cx="7863840" cy="685800"/>
          </a:xfrm>
          <a:prstGeom prst="roundRect">
            <a:avLst>
              <a:gd name="adj" fmla="val 46667"/>
            </a:avLst>
          </a:prstGeom>
          <a:solidFill>
            <a:srgbClr val="F9E9E9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5544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Complexity — SAP / Oracle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2377440" y="2514600"/>
            <a:ext cx="6400800" cy="685800"/>
          </a:xfrm>
          <a:prstGeom prst="roundRect">
            <a:avLst>
              <a:gd name="adj" fmla="val 46667"/>
            </a:avLst>
          </a:prstGeom>
          <a:solidFill>
            <a:srgbClr val="FBF1E1"/>
          </a:solidFill>
          <a:ln w="12700">
            <a:solidFill>
              <a:srgbClr val="B786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5146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 365 / Workday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777240" y="3474720"/>
            <a:ext cx="9601200" cy="685800"/>
          </a:xfrm>
          <a:prstGeom prst="roundRect">
            <a:avLst>
              <a:gd name="adj" fmla="val 46667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747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— Configurable · Integrated · Modular · India-ready · API-first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017520" y="4434840"/>
            <a:ext cx="5120640" cy="685800"/>
          </a:xfrm>
          <a:prstGeom prst="roundRect">
            <a:avLst>
              <a:gd name="adj" fmla="val 46667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44348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/ Odoo (SMB tools)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548640" y="5623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do not claim: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548640" y="5925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“Cheapest ERP”  ·  “Most powerful ERP”  ·  “SAP replacement”  ·  “AI-first ERP”  —  weak, overused, or indefensible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REFERENCE, NOT A CLAIM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snapshot vs. the ERP landscape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83464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6304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10312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3456432" y="14630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(current)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0" y="1463040"/>
            <a:ext cx="228600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559552" y="1463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Suites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7772400" y="1463040"/>
            <a:ext cx="155448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7845552" y="146304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9326880" y="1463040"/>
            <a:ext cx="173736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9400032" y="146304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/ Odoo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9202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383280" y="1920240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920240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5486400" y="19202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1920240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7772400" y="1920240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1920240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9326880" y="1920240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1920240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48640" y="2340864"/>
            <a:ext cx="283464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340864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attendance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383280" y="2340864"/>
            <a:ext cx="210312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340864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486400" y="2340864"/>
            <a:ext cx="228600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2340864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7772400" y="2340864"/>
            <a:ext cx="155448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2340864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9326880" y="2340864"/>
            <a:ext cx="173736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0032" y="2340864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548640" y="2761488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276148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3383280" y="2761488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2761488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5486400" y="2761488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2761488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7772400" y="2761488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276148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9326880" y="2761488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0032" y="2761488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548640" y="3182112"/>
            <a:ext cx="283464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182112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/ GL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3383280" y="3182112"/>
            <a:ext cx="210312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56432" y="3182112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(Phase 3)</a:t>
            </a:r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5486400" y="3182112"/>
            <a:ext cx="228600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3182112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7772400" y="3182112"/>
            <a:ext cx="155448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318211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9326880" y="3182112"/>
            <a:ext cx="173736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00032" y="3182112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54" name="Shape 52"/>
          <p:cNvSpPr/>
          <p:nvPr/>
        </p:nvSpPr>
        <p:spPr>
          <a:xfrm>
            <a:off x="548640" y="3602736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3602736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management</a:t>
            </a:r>
            <a:endParaRPr lang="en-US" sz="1050"/>
          </a:p>
        </p:txBody>
      </p:sp>
      <p:sp>
        <p:nvSpPr>
          <p:cNvPr id="56" name="Shape 54"/>
          <p:cNvSpPr/>
          <p:nvPr/>
        </p:nvSpPr>
        <p:spPr>
          <a:xfrm>
            <a:off x="3383280" y="3602736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56432" y="3602736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(Phase 4)</a:t>
            </a:r>
            <a:endParaRPr lang="en-US" sz="1050"/>
          </a:p>
        </p:txBody>
      </p:sp>
      <p:sp>
        <p:nvSpPr>
          <p:cNvPr id="58" name="Shape 56"/>
          <p:cNvSpPr/>
          <p:nvPr/>
        </p:nvSpPr>
        <p:spPr>
          <a:xfrm>
            <a:off x="5486400" y="3602736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59552" y="3602736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60" name="Shape 58"/>
          <p:cNvSpPr/>
          <p:nvPr/>
        </p:nvSpPr>
        <p:spPr>
          <a:xfrm>
            <a:off x="7772400" y="3602736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45552" y="3602736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/>
          </a:p>
        </p:txBody>
      </p:sp>
      <p:sp>
        <p:nvSpPr>
          <p:cNvPr id="62" name="Shape 60"/>
          <p:cNvSpPr/>
          <p:nvPr/>
        </p:nvSpPr>
        <p:spPr>
          <a:xfrm>
            <a:off x="9326880" y="3602736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00032" y="3602736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64" name="Shape 62"/>
          <p:cNvSpPr/>
          <p:nvPr/>
        </p:nvSpPr>
        <p:spPr>
          <a:xfrm>
            <a:off x="548640" y="4023360"/>
            <a:ext cx="283464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02336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/>
          </a:p>
        </p:txBody>
      </p:sp>
      <p:sp>
        <p:nvSpPr>
          <p:cNvPr id="66" name="Shape 64"/>
          <p:cNvSpPr/>
          <p:nvPr/>
        </p:nvSpPr>
        <p:spPr>
          <a:xfrm>
            <a:off x="3383280" y="4023360"/>
            <a:ext cx="210312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56432" y="4023360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(Phase 5)</a:t>
            </a:r>
            <a:endParaRPr lang="en-US" sz="1050"/>
          </a:p>
        </p:txBody>
      </p:sp>
      <p:sp>
        <p:nvSpPr>
          <p:cNvPr id="68" name="Shape 66"/>
          <p:cNvSpPr/>
          <p:nvPr/>
        </p:nvSpPr>
        <p:spPr>
          <a:xfrm>
            <a:off x="5486400" y="4023360"/>
            <a:ext cx="228600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59552" y="4023360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70" name="Shape 68"/>
          <p:cNvSpPr/>
          <p:nvPr/>
        </p:nvSpPr>
        <p:spPr>
          <a:xfrm>
            <a:off x="7772400" y="4023360"/>
            <a:ext cx="155448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45552" y="4023360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/>
          </a:p>
        </p:txBody>
      </p:sp>
      <p:sp>
        <p:nvSpPr>
          <p:cNvPr id="72" name="Shape 70"/>
          <p:cNvSpPr/>
          <p:nvPr/>
        </p:nvSpPr>
        <p:spPr>
          <a:xfrm>
            <a:off x="9326880" y="4023360"/>
            <a:ext cx="173736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00032" y="4023360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74" name="Shape 72"/>
          <p:cNvSpPr/>
          <p:nvPr/>
        </p:nvSpPr>
        <p:spPr>
          <a:xfrm>
            <a:off x="548640" y="4443984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" y="4443984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50"/>
          </a:p>
        </p:txBody>
      </p:sp>
      <p:sp>
        <p:nvSpPr>
          <p:cNvPr id="76" name="Shape 74"/>
          <p:cNvSpPr/>
          <p:nvPr/>
        </p:nvSpPr>
        <p:spPr>
          <a:xfrm>
            <a:off x="3383280" y="4443984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56432" y="4443984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(Phase 11)</a:t>
            </a:r>
            <a:endParaRPr lang="en-US" sz="1050"/>
          </a:p>
        </p:txBody>
      </p:sp>
      <p:sp>
        <p:nvSpPr>
          <p:cNvPr id="78" name="Shape 76"/>
          <p:cNvSpPr/>
          <p:nvPr/>
        </p:nvSpPr>
        <p:spPr>
          <a:xfrm>
            <a:off x="5486400" y="4443984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59552" y="4443984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/>
          </a:p>
        </p:txBody>
      </p:sp>
      <p:sp>
        <p:nvSpPr>
          <p:cNvPr id="80" name="Shape 78"/>
          <p:cNvSpPr/>
          <p:nvPr/>
        </p:nvSpPr>
        <p:spPr>
          <a:xfrm>
            <a:off x="7772400" y="4443984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45552" y="4443984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/>
          </a:p>
        </p:txBody>
      </p:sp>
      <p:sp>
        <p:nvSpPr>
          <p:cNvPr id="82" name="Shape 80"/>
          <p:cNvSpPr/>
          <p:nvPr/>
        </p:nvSpPr>
        <p:spPr>
          <a:xfrm>
            <a:off x="9326880" y="4443984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00032" y="4443984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/>
          </a:p>
        </p:txBody>
      </p:sp>
      <p:sp>
        <p:nvSpPr>
          <p:cNvPr id="84" name="Shape 82"/>
          <p:cNvSpPr/>
          <p:nvPr/>
        </p:nvSpPr>
        <p:spPr>
          <a:xfrm>
            <a:off x="548640" y="4864608"/>
            <a:ext cx="283464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1792" y="486460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050"/>
          </a:p>
        </p:txBody>
      </p:sp>
      <p:sp>
        <p:nvSpPr>
          <p:cNvPr id="86" name="Shape 84"/>
          <p:cNvSpPr/>
          <p:nvPr/>
        </p:nvSpPr>
        <p:spPr>
          <a:xfrm>
            <a:off x="3383280" y="4864608"/>
            <a:ext cx="210312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56432" y="4864608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</a:t>
            </a:r>
            <a:endParaRPr lang="en-US" sz="1050"/>
          </a:p>
        </p:txBody>
      </p:sp>
      <p:sp>
        <p:nvSpPr>
          <p:cNvPr id="88" name="Shape 86"/>
          <p:cNvSpPr/>
          <p:nvPr/>
        </p:nvSpPr>
        <p:spPr>
          <a:xfrm>
            <a:off x="5486400" y="4864608"/>
            <a:ext cx="228600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59552" y="4864608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90" name="Shape 88"/>
          <p:cNvSpPr/>
          <p:nvPr/>
        </p:nvSpPr>
        <p:spPr>
          <a:xfrm>
            <a:off x="7772400" y="4864608"/>
            <a:ext cx="155448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45552" y="486460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92" name="Shape 90"/>
          <p:cNvSpPr/>
          <p:nvPr/>
        </p:nvSpPr>
        <p:spPr>
          <a:xfrm>
            <a:off x="9326880" y="4864608"/>
            <a:ext cx="1737360" cy="420624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00032" y="4864608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/>
          </a:p>
        </p:txBody>
      </p:sp>
      <p:sp>
        <p:nvSpPr>
          <p:cNvPr id="94" name="Shape 92"/>
          <p:cNvSpPr/>
          <p:nvPr/>
        </p:nvSpPr>
        <p:spPr>
          <a:xfrm>
            <a:off x="548640" y="5285232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" y="5285232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engine</a:t>
            </a:r>
            <a:endParaRPr lang="en-US" sz="1050"/>
          </a:p>
        </p:txBody>
      </p:sp>
      <p:sp>
        <p:nvSpPr>
          <p:cNvPr id="96" name="Shape 94"/>
          <p:cNvSpPr/>
          <p:nvPr/>
        </p:nvSpPr>
        <p:spPr>
          <a:xfrm>
            <a:off x="3383280" y="5285232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456432" y="5285232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/>
          </a:p>
        </p:txBody>
      </p:sp>
      <p:sp>
        <p:nvSpPr>
          <p:cNvPr id="98" name="Shape 96"/>
          <p:cNvSpPr/>
          <p:nvPr/>
        </p:nvSpPr>
        <p:spPr>
          <a:xfrm>
            <a:off x="5486400" y="5285232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559552" y="5285232"/>
            <a:ext cx="2139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/>
          </a:p>
        </p:txBody>
      </p:sp>
      <p:sp>
        <p:nvSpPr>
          <p:cNvPr id="100" name="Shape 98"/>
          <p:cNvSpPr/>
          <p:nvPr/>
        </p:nvSpPr>
        <p:spPr>
          <a:xfrm>
            <a:off x="7772400" y="5285232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45552" y="528523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/>
          </a:p>
        </p:txBody>
      </p:sp>
      <p:sp>
        <p:nvSpPr>
          <p:cNvPr id="102" name="Shape 100"/>
          <p:cNvSpPr/>
          <p:nvPr/>
        </p:nvSpPr>
        <p:spPr>
          <a:xfrm>
            <a:off x="9326880" y="5285232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400032" y="5285232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/>
          </a:p>
        </p:txBody>
      </p:sp>
      <p:sp>
        <p:nvSpPr>
          <p:cNvPr id="104" name="Text 10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enterprise reliability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691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50" y="17519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685800" y="26700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691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470" y="175199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331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Frontend</a:t>
            </a:r>
            <a:endParaRPr lang="en-US" sz="1200"/>
          </a:p>
        </p:txBody>
      </p:sp>
      <p:sp>
        <p:nvSpPr>
          <p:cNvPr id="13" name="Text 9"/>
          <p:cNvSpPr/>
          <p:nvPr/>
        </p:nvSpPr>
        <p:spPr>
          <a:xfrm>
            <a:off x="3474720" y="26700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</a:t>
            </a:r>
            <a:endParaRPr lang="en-US" sz="95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78040" y="1691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0" y="175199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331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/>
          </a:p>
        </p:txBody>
      </p:sp>
      <p:sp>
        <p:nvSpPr>
          <p:cNvPr id="18" name="Text 13"/>
          <p:cNvSpPr/>
          <p:nvPr/>
        </p:nvSpPr>
        <p:spPr>
          <a:xfrm>
            <a:off x="6263640" y="26700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(current LTS), ASP.NET Core</a:t>
            </a:r>
            <a:endParaRPr lang="en-US" sz="950"/>
          </a:p>
        </p:txBody>
      </p:sp>
      <p:sp>
        <p:nvSpPr>
          <p:cNvPr id="19" name="Shape 14"/>
          <p:cNvSpPr/>
          <p:nvPr/>
        </p:nvSpPr>
        <p:spPr>
          <a:xfrm>
            <a:off x="8915400" y="146304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66960" y="1691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7310" y="175199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331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/>
          </a:p>
        </p:txBody>
      </p:sp>
      <p:sp>
        <p:nvSpPr>
          <p:cNvPr id="23" name="Text 17"/>
          <p:cNvSpPr/>
          <p:nvPr/>
        </p:nvSpPr>
        <p:spPr>
          <a:xfrm>
            <a:off x="9052560" y="26700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/>
          </a:p>
        </p:txBody>
      </p:sp>
      <p:sp>
        <p:nvSpPr>
          <p:cNvPr id="24" name="Shape 18"/>
          <p:cNvSpPr/>
          <p:nvPr/>
        </p:nvSpPr>
        <p:spPr>
          <a:xfrm>
            <a:off x="548640" y="36118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600200" y="3840480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0550" y="3900830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/>
          </a:p>
        </p:txBody>
      </p:sp>
      <p:sp>
        <p:nvSpPr>
          <p:cNvPr id="28" name="Text 21"/>
          <p:cNvSpPr/>
          <p:nvPr/>
        </p:nvSpPr>
        <p:spPr>
          <a:xfrm>
            <a:off x="685800" y="48188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/>
          </a:p>
        </p:txBody>
      </p:sp>
      <p:sp>
        <p:nvSpPr>
          <p:cNvPr id="29" name="Shape 22"/>
          <p:cNvSpPr/>
          <p:nvPr/>
        </p:nvSpPr>
        <p:spPr>
          <a:xfrm>
            <a:off x="3337560" y="36118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89120" y="3840480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9470" y="3900830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472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/>
          </a:p>
        </p:txBody>
      </p:sp>
      <p:sp>
        <p:nvSpPr>
          <p:cNvPr id="33" name="Text 25"/>
          <p:cNvSpPr/>
          <p:nvPr/>
        </p:nvSpPr>
        <p:spPr>
          <a:xfrm>
            <a:off x="3474720" y="48188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 → RabbitMQ/Azure Service Bus</a:t>
            </a:r>
            <a:endParaRPr lang="en-US" sz="950"/>
          </a:p>
        </p:txBody>
      </p:sp>
      <p:sp>
        <p:nvSpPr>
          <p:cNvPr id="34" name="Shape 26"/>
          <p:cNvSpPr/>
          <p:nvPr/>
        </p:nvSpPr>
        <p:spPr>
          <a:xfrm>
            <a:off x="6126480" y="36118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178040" y="3840480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8390" y="3900830"/>
            <a:ext cx="382219" cy="38221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6364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200"/>
          </a:p>
        </p:txBody>
      </p:sp>
      <p:sp>
        <p:nvSpPr>
          <p:cNvPr id="38" name="Text 29"/>
          <p:cNvSpPr/>
          <p:nvPr/>
        </p:nvSpPr>
        <p:spPr>
          <a:xfrm>
            <a:off x="6263640" y="48188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(Azure Blob / S3-compatible)</a:t>
            </a:r>
            <a:endParaRPr lang="en-US" sz="950"/>
          </a:p>
        </p:txBody>
      </p:sp>
      <p:sp>
        <p:nvSpPr>
          <p:cNvPr id="39" name="Shape 30"/>
          <p:cNvSpPr/>
          <p:nvPr/>
        </p:nvSpPr>
        <p:spPr>
          <a:xfrm>
            <a:off x="8915400" y="36118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966960" y="3840480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7310" y="3900830"/>
            <a:ext cx="382219" cy="38221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5256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200"/>
          </a:p>
        </p:txBody>
      </p:sp>
      <p:sp>
        <p:nvSpPr>
          <p:cNvPr id="43" name="Text 33"/>
          <p:cNvSpPr/>
          <p:nvPr/>
        </p:nvSpPr>
        <p:spPr>
          <a:xfrm>
            <a:off x="9052560" y="48188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+ OIDC, MFA, SSO, RBAC + ABAC</a:t>
            </a:r>
            <a:endParaRPr lang="en-US" sz="950"/>
          </a:p>
        </p:txBody>
      </p:sp>
      <p:sp>
        <p:nvSpPr>
          <p:cNvPr id="44" name="Text 3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flows through the same chain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463040" y="1554480"/>
            <a:ext cx="9235440" cy="777240"/>
          </a:xfrm>
          <a:prstGeom prst="roundRect">
            <a:avLst>
              <a:gd name="adj" fmla="val 7059"/>
            </a:avLst>
          </a:prstGeom>
          <a:solidFill>
            <a:srgbClr val="E6F1FB"/>
          </a:solidFill>
          <a:ln w="15875">
            <a:solidFill>
              <a:srgbClr val="378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15544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Clients — React Web · Flutter Mobile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6080760" y="2331720"/>
            <a:ext cx="0" cy="2286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463040" y="2560320"/>
            <a:ext cx="9235440" cy="777240"/>
          </a:xfrm>
          <a:prstGeom prst="roundRect">
            <a:avLst>
              <a:gd name="adj" fmla="val 7059"/>
            </a:avLst>
          </a:prstGeom>
          <a:solidFill>
            <a:srgbClr val="FAECE7"/>
          </a:solidFill>
          <a:ln w="15875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560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Security — TLS · OAuth2/OIDC · MFA · WAF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6080760" y="3337560"/>
            <a:ext cx="0" cy="2286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463040" y="3566160"/>
            <a:ext cx="9235440" cy="777240"/>
          </a:xfrm>
          <a:prstGeom prst="roundRect">
            <a:avLst>
              <a:gd name="adj" fmla="val 7059"/>
            </a:avLst>
          </a:prstGeom>
          <a:solidFill>
            <a:srgbClr val="EEEDFE"/>
          </a:solidFill>
          <a:ln w="15875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56616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 Backend — RBAC · Workflow/Approval Engine · Audit Log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080760" y="4343400"/>
            <a:ext cx="0" cy="2286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63040" y="4572000"/>
            <a:ext cx="923544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457200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Modules — People · Timecard &amp; Leave · Projects · Expenses · Accounting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6080760" y="5349240"/>
            <a:ext cx="0" cy="2286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63040" y="5577840"/>
            <a:ext cx="9235440" cy="777240"/>
          </a:xfrm>
          <a:prstGeom prst="roundRect">
            <a:avLst>
              <a:gd name="adj" fmla="val 7059"/>
            </a:avLst>
          </a:prstGeom>
          <a:solidFill>
            <a:srgbClr val="F1EFE8"/>
          </a:solidFill>
          <a:ln w="15875">
            <a:solidFill>
              <a:srgbClr val="8887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55778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PostgreSQL, encrypted at rest (AES-256)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boundary: TLS in transit · RBAC · audit log on every action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engines shared by every module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2F6FB"/>
          </a:solidFill>
          <a:ln/>
        </p:spPr>
      </p:sp>
      <p:sp>
        <p:nvSpPr>
          <p:cNvPr id="5" name="Shape 3"/>
          <p:cNvSpPr/>
          <p:nvPr/>
        </p:nvSpPr>
        <p:spPr>
          <a:xfrm>
            <a:off x="2071116" y="1764792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147" y="1832823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868680" y="28072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sequence a request moves through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2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5728716" y="1764792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747" y="1832823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Engine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4526280" y="28072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who must approve, by rule not by module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7955280" y="15087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2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386316" y="1764792"/>
            <a:ext cx="566928" cy="566928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347" y="1832823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Engine</a:t>
            </a:r>
            <a:endParaRPr lang="en-US" sz="1300"/>
          </a:p>
        </p:txBody>
      </p:sp>
      <p:sp>
        <p:nvSpPr>
          <p:cNvPr id="18" name="Text 13"/>
          <p:cNvSpPr/>
          <p:nvPr/>
        </p:nvSpPr>
        <p:spPr>
          <a:xfrm>
            <a:off x="8183880" y="28072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in-app, push, reminders, escalations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2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2071116" y="4325112"/>
            <a:ext cx="566928" cy="566928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147" y="4393143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29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Engine</a:t>
            </a:r>
            <a:endParaRPr lang="en-US" sz="1300"/>
          </a:p>
        </p:txBody>
      </p:sp>
      <p:sp>
        <p:nvSpPr>
          <p:cNvPr id="23" name="Text 17"/>
          <p:cNvSpPr/>
          <p:nvPr/>
        </p:nvSpPr>
        <p:spPr>
          <a:xfrm>
            <a:off x="868680" y="53675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receipts, contracts, compliance files</a:t>
            </a:r>
            <a:endParaRPr lang="en-US" sz="1050"/>
          </a:p>
        </p:txBody>
      </p:sp>
      <p:sp>
        <p:nvSpPr>
          <p:cNvPr id="24" name="Shape 18"/>
          <p:cNvSpPr/>
          <p:nvPr/>
        </p:nvSpPr>
        <p:spPr>
          <a:xfrm>
            <a:off x="4297680" y="4069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2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5728716" y="4325112"/>
            <a:ext cx="566928" cy="566928"/>
          </a:xfrm>
          <a:prstGeom prst="ellipse">
            <a:avLst/>
          </a:prstGeom>
          <a:solidFill>
            <a:srgbClr val="A32D2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6747" y="4393143"/>
            <a:ext cx="430865" cy="4308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029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Engine</a:t>
            </a:r>
            <a:endParaRPr lang="en-US" sz="1300"/>
          </a:p>
        </p:txBody>
      </p:sp>
      <p:sp>
        <p:nvSpPr>
          <p:cNvPr id="28" name="Text 21"/>
          <p:cNvSpPr/>
          <p:nvPr/>
        </p:nvSpPr>
        <p:spPr>
          <a:xfrm>
            <a:off x="4526280" y="53675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what, when, where — on every sensitive action</a:t>
            </a:r>
            <a:endParaRPr lang="en-US" sz="1050"/>
          </a:p>
        </p:txBody>
      </p:sp>
      <p:sp>
        <p:nvSpPr>
          <p:cNvPr id="29" name="Shape 22"/>
          <p:cNvSpPr/>
          <p:nvPr/>
        </p:nvSpPr>
        <p:spPr>
          <a:xfrm>
            <a:off x="7955280" y="4069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2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9386316" y="4325112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347" y="4393143"/>
            <a:ext cx="430865" cy="4308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5029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Engine</a:t>
            </a:r>
            <a:endParaRPr lang="en-US" sz="1300"/>
          </a:p>
        </p:txBody>
      </p:sp>
      <p:sp>
        <p:nvSpPr>
          <p:cNvPr id="33" name="Text 25"/>
          <p:cNvSpPr/>
          <p:nvPr/>
        </p:nvSpPr>
        <p:spPr>
          <a:xfrm>
            <a:off x="8183880" y="53675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define rules without a deployment</a:t>
            </a:r>
            <a:endParaRPr lang="en-US" sz="105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in, not bolted on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3E7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18891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SSO, OAuth2/OIDC, account lockout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3E70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630" y="18891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452628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policy-based (ABAC), data-level access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795528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3E70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828800"/>
            <a:ext cx="502920" cy="50292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230" y="188915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/>
          </a:p>
        </p:txBody>
      </p:sp>
      <p:sp>
        <p:nvSpPr>
          <p:cNvPr id="18" name="Text 13"/>
          <p:cNvSpPr/>
          <p:nvPr/>
        </p:nvSpPr>
        <p:spPr>
          <a:xfrm>
            <a:off x="818388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logged: who, what, when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640080" y="395935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3E70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187952"/>
            <a:ext cx="502920" cy="50292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" y="4248302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215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00"/>
          </a:p>
        </p:txBody>
      </p:sp>
      <p:sp>
        <p:nvSpPr>
          <p:cNvPr id="23" name="Text 17"/>
          <p:cNvSpPr/>
          <p:nvPr/>
        </p:nvSpPr>
        <p:spPr>
          <a:xfrm>
            <a:off x="868680" y="48737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+ encryption at rest, PII controls</a:t>
            </a:r>
            <a:endParaRPr lang="en-US" sz="1050"/>
          </a:p>
        </p:txBody>
      </p:sp>
      <p:sp>
        <p:nvSpPr>
          <p:cNvPr id="24" name="Shape 18"/>
          <p:cNvSpPr/>
          <p:nvPr/>
        </p:nvSpPr>
        <p:spPr>
          <a:xfrm>
            <a:off x="4297680" y="395935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3E7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4187952"/>
            <a:ext cx="502920" cy="50292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6630" y="4248302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215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1300"/>
          </a:p>
        </p:txBody>
      </p:sp>
      <p:sp>
        <p:nvSpPr>
          <p:cNvPr id="28" name="Text 21"/>
          <p:cNvSpPr/>
          <p:nvPr/>
        </p:nvSpPr>
        <p:spPr>
          <a:xfrm>
            <a:off x="4526280" y="48737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RPO/RTO, tested restores, failover plan</a:t>
            </a:r>
            <a:endParaRPr lang="en-US" sz="1050"/>
          </a:p>
        </p:txBody>
      </p:sp>
      <p:sp>
        <p:nvSpPr>
          <p:cNvPr id="29" name="Shape 22"/>
          <p:cNvSpPr/>
          <p:nvPr/>
        </p:nvSpPr>
        <p:spPr>
          <a:xfrm>
            <a:off x="7955280" y="395935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3E70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4187952"/>
            <a:ext cx="502920" cy="50292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4230" y="4248302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4215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/>
          </a:p>
        </p:txBody>
      </p:sp>
      <p:sp>
        <p:nvSpPr>
          <p:cNvPr id="33" name="Text 25"/>
          <p:cNvSpPr/>
          <p:nvPr/>
        </p:nvSpPr>
        <p:spPr>
          <a:xfrm>
            <a:off x="8183880" y="48737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India-first: PF, ESIC, Professional Tax, TDS</a:t>
            </a:r>
            <a:endParaRPr lang="en-US" sz="105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REFERENCE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functional surface, by group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6304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2688336" y="14630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E5C8A"/>
          </a:solidFill>
          <a:ln/>
        </p:spPr>
      </p:sp>
      <p:sp>
        <p:nvSpPr>
          <p:cNvPr id="7" name="Text 5"/>
          <p:cNvSpPr/>
          <p:nvPr/>
        </p:nvSpPr>
        <p:spPr>
          <a:xfrm>
            <a:off x="2798064" y="146304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/ HCM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4782312" y="14630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B7862C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6304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6876288" y="14630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6986016" y="146304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Mgmt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8970264" y="14630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A3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9079992" y="146304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94360" y="2478024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478024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2688336" y="2478024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E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2798064" y="2478024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4782312" y="2478024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B7862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78024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CRM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6876288" y="2478024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2478024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8970264" y="2478024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A3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9079992" y="2478024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594360" y="3493008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3493008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2688336" y="3493008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E5C8A"/>
          </a:solidFill>
          <a:ln/>
        </p:spPr>
      </p:sp>
      <p:sp>
        <p:nvSpPr>
          <p:cNvPr id="27" name="Text 25"/>
          <p:cNvSpPr/>
          <p:nvPr/>
        </p:nvSpPr>
        <p:spPr>
          <a:xfrm>
            <a:off x="2798064" y="3493008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</a:t>
            </a:r>
            <a:endParaRPr lang="en-US" sz="1250"/>
          </a:p>
        </p:txBody>
      </p:sp>
      <p:sp>
        <p:nvSpPr>
          <p:cNvPr id="28" name="Shape 26"/>
          <p:cNvSpPr/>
          <p:nvPr/>
        </p:nvSpPr>
        <p:spPr>
          <a:xfrm>
            <a:off x="4782312" y="3493008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B7862C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493008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/>
          </a:p>
        </p:txBody>
      </p:sp>
      <p:sp>
        <p:nvSpPr>
          <p:cNvPr id="30" name="Text 28"/>
          <p:cNvSpPr/>
          <p:nvPr/>
        </p:nvSpPr>
        <p:spPr>
          <a:xfrm>
            <a:off x="594360" y="46451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(this build) implements slices of Groups A-E only. The rest is architected for, not built prematurely.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Fifteen phases, four delivery stages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Foundation &amp; Core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0–4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154680" y="2286000"/>
            <a:ext cx="228600" cy="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828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5–9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5897880" y="2286000"/>
            <a:ext cx="228600" cy="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B7862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828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10–12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641080" y="2286000"/>
            <a:ext cx="228600" cy="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6968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828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SaaS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05256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13–14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7398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Working platform shell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640080" y="4306824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1970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First immutable ledger entry posted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640080" y="4764024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6542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First end-to-end purchase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640080" y="5221224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1114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14 — First external customer transaction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ERP FOUNDATION &amp; CORE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1F3864"/>
                </a:solidFill>
                <a:latin typeface="Cambria"/>
                <a:ea typeface="Cambria"/>
                <a:cs typeface="Cambria" pitchFamily="34" charset="-120"/>
              </a:rPr>
              <a:t>Phases 0–4 in detail (will be implemented)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9164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417320"/>
            <a:ext cx="1545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288036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2221992" y="1417320"/>
            <a:ext cx="2734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448056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417320"/>
            <a:ext cx="4334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Scope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9509760" y="1417320"/>
            <a:ext cx="228600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9582912" y="141732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0136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Discovery &amp; Blueprint</a:t>
            </a:r>
            <a:endParaRPr lang="en-US" sz="970"/>
          </a:p>
        </p:txBody>
      </p:sp>
      <p:sp>
        <p:nvSpPr>
          <p:cNvPr id="14" name="Shape 12"/>
          <p:cNvSpPr/>
          <p:nvPr/>
        </p:nvSpPr>
        <p:spPr>
          <a:xfrm>
            <a:off x="2148840" y="1801368"/>
            <a:ext cx="2880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1801368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our needs and the future product's needs together</a:t>
            </a:r>
            <a:endParaRPr lang="en-US" sz="970"/>
          </a:p>
        </p:txBody>
      </p:sp>
      <p:sp>
        <p:nvSpPr>
          <p:cNvPr id="16" name="Shape 14"/>
          <p:cNvSpPr/>
          <p:nvPr/>
        </p:nvSpPr>
        <p:spPr>
          <a:xfrm>
            <a:off x="5029200" y="1801368"/>
            <a:ext cx="4480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801368"/>
            <a:ext cx="4334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capability inventory, process mapping, competitor benchmarking, security &amp; compliance requirements</a:t>
            </a:r>
            <a:endParaRPr lang="en-US" sz="970"/>
          </a:p>
        </p:txBody>
      </p:sp>
      <p:sp>
        <p:nvSpPr>
          <p:cNvPr id="18" name="Shape 16"/>
          <p:cNvSpPr/>
          <p:nvPr/>
        </p:nvSpPr>
        <p:spPr>
          <a:xfrm>
            <a:off x="9509760" y="1801368"/>
            <a:ext cx="2286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1801368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product strategy approved</a:t>
            </a:r>
            <a:endParaRPr lang="en-US" sz="97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169164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6700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ERP Foundation</a:t>
            </a:r>
            <a:endParaRPr lang="en-US" sz="970"/>
          </a:p>
        </p:txBody>
      </p:sp>
      <p:sp>
        <p:nvSpPr>
          <p:cNvPr id="22" name="Shape 20"/>
          <p:cNvSpPr/>
          <p:nvPr/>
        </p:nvSpPr>
        <p:spPr>
          <a:xfrm>
            <a:off x="2148840" y="2670048"/>
            <a:ext cx="288036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670048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platform every future module depends on</a:t>
            </a:r>
            <a:endParaRPr lang="en-US" sz="970"/>
          </a:p>
        </p:txBody>
      </p:sp>
      <p:sp>
        <p:nvSpPr>
          <p:cNvPr id="24" name="Shape 22"/>
          <p:cNvSpPr/>
          <p:nvPr/>
        </p:nvSpPr>
        <p:spPr>
          <a:xfrm>
            <a:off x="5029200" y="2670048"/>
            <a:ext cx="448056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670048"/>
            <a:ext cx="4334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tenant/org model, workflow engine, approval engine, notification engine, audit engine, API foundation</a:t>
            </a:r>
            <a:endParaRPr lang="en-US" sz="970"/>
          </a:p>
        </p:txBody>
      </p:sp>
      <p:sp>
        <p:nvSpPr>
          <p:cNvPr id="26" name="Shape 24"/>
          <p:cNvSpPr/>
          <p:nvPr/>
        </p:nvSpPr>
        <p:spPr>
          <a:xfrm>
            <a:off x="9509760" y="2670048"/>
            <a:ext cx="228600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82912" y="2670048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 shell</a:t>
            </a:r>
            <a:endParaRPr lang="en-US" sz="970"/>
          </a:p>
        </p:txBody>
      </p:sp>
      <p:sp>
        <p:nvSpPr>
          <p:cNvPr id="28" name="Shape 26"/>
          <p:cNvSpPr/>
          <p:nvPr/>
        </p:nvSpPr>
        <p:spPr>
          <a:xfrm>
            <a:off x="457200" y="3538728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53872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People + Time + Leave</a:t>
            </a:r>
            <a:endParaRPr lang="en-US" sz="970"/>
          </a:p>
        </p:txBody>
      </p:sp>
      <p:sp>
        <p:nvSpPr>
          <p:cNvPr id="30" name="Shape 28"/>
          <p:cNvSpPr/>
          <p:nvPr/>
        </p:nvSpPr>
        <p:spPr>
          <a:xfrm>
            <a:off x="2148840" y="3538728"/>
            <a:ext cx="2880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3538728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first major Zoho workflows</a:t>
            </a:r>
            <a:endParaRPr lang="en-US" sz="970"/>
          </a:p>
        </p:txBody>
      </p:sp>
      <p:sp>
        <p:nvSpPr>
          <p:cNvPr id="32" name="Shape 30"/>
          <p:cNvSpPr/>
          <p:nvPr/>
        </p:nvSpPr>
        <p:spPr>
          <a:xfrm>
            <a:off x="5029200" y="3538728"/>
            <a:ext cx="4480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538728"/>
            <a:ext cx="4334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master, departments, reporting hierarchy, attendance, timesheets, leave (incl. half-day &amp; sick leave), self-service</a:t>
            </a:r>
            <a:endParaRPr lang="en-US" sz="970"/>
          </a:p>
        </p:txBody>
      </p:sp>
      <p:sp>
        <p:nvSpPr>
          <p:cNvPr id="34" name="Shape 32"/>
          <p:cNvSpPr/>
          <p:nvPr/>
        </p:nvSpPr>
        <p:spPr>
          <a:xfrm>
            <a:off x="9509760" y="3538728"/>
            <a:ext cx="2286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82912" y="3538728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log time and apply leave</a:t>
            </a:r>
            <a:endParaRPr lang="en-US" sz="970"/>
          </a:p>
        </p:txBody>
      </p:sp>
      <p:sp>
        <p:nvSpPr>
          <p:cNvPr id="36" name="Shape 34"/>
          <p:cNvSpPr/>
          <p:nvPr/>
        </p:nvSpPr>
        <p:spPr>
          <a:xfrm>
            <a:off x="457200" y="4407408"/>
            <a:ext cx="1691640" cy="96012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40740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Expense + Finance Core</a:t>
            </a:r>
            <a:endParaRPr lang="en-US" sz="970"/>
          </a:p>
        </p:txBody>
      </p:sp>
      <p:sp>
        <p:nvSpPr>
          <p:cNvPr id="38" name="Shape 36"/>
          <p:cNvSpPr/>
          <p:nvPr/>
        </p:nvSpPr>
        <p:spPr>
          <a:xfrm>
            <a:off x="2148840" y="4407408"/>
            <a:ext cx="2880360" cy="96012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4407408"/>
            <a:ext cx="27340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starts flowing through the ledger</a:t>
            </a:r>
            <a:endParaRPr lang="en-US" sz="970"/>
          </a:p>
        </p:txBody>
      </p:sp>
      <p:sp>
        <p:nvSpPr>
          <p:cNvPr id="40" name="Shape 38"/>
          <p:cNvSpPr/>
          <p:nvPr/>
        </p:nvSpPr>
        <p:spPr>
          <a:xfrm>
            <a:off x="5029200" y="4407408"/>
            <a:ext cx="4480560" cy="96012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4407408"/>
            <a:ext cx="43342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claims/approval/reimbursement; GL, chart of accounts, journals, AP/AR, budgets, fiscal periods, immutable posting + reversal</a:t>
            </a:r>
            <a:endParaRPr lang="en-US" sz="970"/>
          </a:p>
        </p:txBody>
      </p:sp>
      <p:sp>
        <p:nvSpPr>
          <p:cNvPr id="42" name="Shape 40"/>
          <p:cNvSpPr/>
          <p:nvPr/>
        </p:nvSpPr>
        <p:spPr>
          <a:xfrm>
            <a:off x="9509760" y="4407408"/>
            <a:ext cx="2286000" cy="96012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82912" y="4407408"/>
            <a:ext cx="21396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expense posts a balanced, immutable journal entry</a:t>
            </a:r>
            <a:endParaRPr lang="en-US" sz="970"/>
          </a:p>
        </p:txBody>
      </p:sp>
      <p:sp>
        <p:nvSpPr>
          <p:cNvPr id="44" name="Shape 42"/>
          <p:cNvSpPr/>
          <p:nvPr/>
        </p:nvSpPr>
        <p:spPr>
          <a:xfrm>
            <a:off x="457200" y="5367528"/>
            <a:ext cx="1691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536752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Project Mgmt + Financials</a:t>
            </a:r>
            <a:endParaRPr lang="en-US" sz="970"/>
          </a:p>
        </p:txBody>
      </p:sp>
      <p:sp>
        <p:nvSpPr>
          <p:cNvPr id="46" name="Shape 44"/>
          <p:cNvSpPr/>
          <p:nvPr/>
        </p:nvSpPr>
        <p:spPr>
          <a:xfrm>
            <a:off x="2148840" y="5367528"/>
            <a:ext cx="2880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21992" y="5367528"/>
            <a:ext cx="27340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time and expense to project profitability</a:t>
            </a:r>
            <a:endParaRPr lang="en-US" sz="970"/>
          </a:p>
        </p:txBody>
      </p:sp>
      <p:sp>
        <p:nvSpPr>
          <p:cNvPr id="48" name="Shape 46"/>
          <p:cNvSpPr/>
          <p:nvPr/>
        </p:nvSpPr>
        <p:spPr>
          <a:xfrm>
            <a:off x="5029200" y="5367528"/>
            <a:ext cx="4480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5367528"/>
            <a:ext cx="43342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tasks, milestones, resources, budgets; time + expense + resource cost + revenue = profitability</a:t>
            </a:r>
            <a:endParaRPr lang="en-US" sz="970"/>
          </a:p>
        </p:txBody>
      </p:sp>
      <p:sp>
        <p:nvSpPr>
          <p:cNvPr id="50" name="Shape 48"/>
          <p:cNvSpPr/>
          <p:nvPr/>
        </p:nvSpPr>
        <p:spPr>
          <a:xfrm>
            <a:off x="9509760" y="5367528"/>
            <a:ext cx="2286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82912" y="5367528"/>
            <a:ext cx="21396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budget-vs-actual per project, no spreadsheets</a:t>
            </a:r>
            <a:endParaRPr lang="en-US" sz="970"/>
          </a:p>
        </p:txBody>
      </p:sp>
      <p:sp>
        <p:nvSpPr>
          <p:cNvPr id="52" name="Text 5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BUSINESS OPERATIONS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1F3864"/>
                </a:solidFill>
                <a:latin typeface="Cambria"/>
                <a:ea typeface="Cambria"/>
                <a:cs typeface="Cambria" pitchFamily="34" charset="-120"/>
              </a:rPr>
              <a:t>Phases 5–9 in detail (after first implementation)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9164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417320"/>
            <a:ext cx="1545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288036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" name="Text 5"/>
          <p:cNvSpPr/>
          <p:nvPr/>
        </p:nvSpPr>
        <p:spPr>
          <a:xfrm>
            <a:off x="2221992" y="1417320"/>
            <a:ext cx="2734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448056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417320"/>
            <a:ext cx="4334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Scope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9509760" y="1417320"/>
            <a:ext cx="228600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1" name="Text 9"/>
          <p:cNvSpPr/>
          <p:nvPr/>
        </p:nvSpPr>
        <p:spPr>
          <a:xfrm>
            <a:off x="9582912" y="141732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0136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Procurement</a:t>
            </a:r>
            <a:endParaRPr lang="en-US" sz="970"/>
          </a:p>
        </p:txBody>
      </p:sp>
      <p:sp>
        <p:nvSpPr>
          <p:cNvPr id="14" name="Shape 12"/>
          <p:cNvSpPr/>
          <p:nvPr/>
        </p:nvSpPr>
        <p:spPr>
          <a:xfrm>
            <a:off x="2148840" y="1801368"/>
            <a:ext cx="2880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1801368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largest Phase-1 gap: buying from suppliers</a:t>
            </a:r>
            <a:endParaRPr lang="en-US" sz="970"/>
          </a:p>
        </p:txBody>
      </p:sp>
      <p:sp>
        <p:nvSpPr>
          <p:cNvPr id="16" name="Shape 14"/>
          <p:cNvSpPr/>
          <p:nvPr/>
        </p:nvSpPr>
        <p:spPr>
          <a:xfrm>
            <a:off x="5029200" y="1801368"/>
            <a:ext cx="4480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801368"/>
            <a:ext cx="4334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→ approval → RFQ → PO → goods receipt → invoice → 3-way match → payment</a:t>
            </a:r>
            <a:endParaRPr lang="en-US" sz="970"/>
          </a:p>
        </p:txBody>
      </p:sp>
      <p:sp>
        <p:nvSpPr>
          <p:cNvPr id="18" name="Shape 16"/>
          <p:cNvSpPr/>
          <p:nvPr/>
        </p:nvSpPr>
        <p:spPr>
          <a:xfrm>
            <a:off x="9509760" y="1801368"/>
            <a:ext cx="2286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1801368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can be requested, approved, and paid end-to-end</a:t>
            </a:r>
            <a:endParaRPr lang="en-US" sz="97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169164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6700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Inventory &amp; Warehouse</a:t>
            </a:r>
            <a:endParaRPr lang="en-US" sz="970"/>
          </a:p>
        </p:txBody>
      </p:sp>
      <p:sp>
        <p:nvSpPr>
          <p:cNvPr id="22" name="Shape 20"/>
          <p:cNvSpPr/>
          <p:nvPr/>
        </p:nvSpPr>
        <p:spPr>
          <a:xfrm>
            <a:off x="2148840" y="2670048"/>
            <a:ext cx="288036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670048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stock, not just cost</a:t>
            </a:r>
            <a:endParaRPr lang="en-US" sz="970"/>
          </a:p>
        </p:txBody>
      </p:sp>
      <p:sp>
        <p:nvSpPr>
          <p:cNvPr id="24" name="Shape 22"/>
          <p:cNvSpPr/>
          <p:nvPr/>
        </p:nvSpPr>
        <p:spPr>
          <a:xfrm>
            <a:off x="5029200" y="2670048"/>
            <a:ext cx="448056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670048"/>
            <a:ext cx="4334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master, stock, warehouses, transfers, adjustments, batch/serial, reorder levels</a:t>
            </a:r>
            <a:endParaRPr lang="en-US" sz="970"/>
          </a:p>
        </p:txBody>
      </p:sp>
      <p:sp>
        <p:nvSpPr>
          <p:cNvPr id="26" name="Shape 24"/>
          <p:cNvSpPr/>
          <p:nvPr/>
        </p:nvSpPr>
        <p:spPr>
          <a:xfrm>
            <a:off x="9509760" y="2670048"/>
            <a:ext cx="228600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82912" y="2670048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reconcile against transactions</a:t>
            </a:r>
            <a:endParaRPr lang="en-US" sz="970"/>
          </a:p>
        </p:txBody>
      </p:sp>
      <p:sp>
        <p:nvSpPr>
          <p:cNvPr id="28" name="Shape 26"/>
          <p:cNvSpPr/>
          <p:nvPr/>
        </p:nvSpPr>
        <p:spPr>
          <a:xfrm>
            <a:off x="457200" y="3538728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538728"/>
            <a:ext cx="1545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Sales &amp; CRM</a:t>
            </a:r>
            <a:endParaRPr lang="en-US" sz="970"/>
          </a:p>
        </p:txBody>
      </p:sp>
      <p:sp>
        <p:nvSpPr>
          <p:cNvPr id="30" name="Shape 28"/>
          <p:cNvSpPr/>
          <p:nvPr/>
        </p:nvSpPr>
        <p:spPr>
          <a:xfrm>
            <a:off x="2148840" y="3538728"/>
            <a:ext cx="2880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3538728"/>
            <a:ext cx="2734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revenue into the same engine</a:t>
            </a:r>
            <a:endParaRPr lang="en-US" sz="970"/>
          </a:p>
        </p:txBody>
      </p:sp>
      <p:sp>
        <p:nvSpPr>
          <p:cNvPr id="32" name="Shape 30"/>
          <p:cNvSpPr/>
          <p:nvPr/>
        </p:nvSpPr>
        <p:spPr>
          <a:xfrm>
            <a:off x="5029200" y="3538728"/>
            <a:ext cx="4480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538728"/>
            <a:ext cx="4334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opportunity → quotation → order → delivery → invoice → payment, integrated with inventory and projects</a:t>
            </a:r>
            <a:endParaRPr lang="en-US" sz="970"/>
          </a:p>
        </p:txBody>
      </p:sp>
      <p:sp>
        <p:nvSpPr>
          <p:cNvPr id="34" name="Shape 32"/>
          <p:cNvSpPr/>
          <p:nvPr/>
        </p:nvSpPr>
        <p:spPr>
          <a:xfrm>
            <a:off x="9509760" y="3538728"/>
            <a:ext cx="2286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82912" y="3538728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flows to accounting with zero manual entry</a:t>
            </a:r>
            <a:endParaRPr lang="en-US" sz="970"/>
          </a:p>
        </p:txBody>
      </p:sp>
      <p:sp>
        <p:nvSpPr>
          <p:cNvPr id="36" name="Shape 34"/>
          <p:cNvSpPr/>
          <p:nvPr/>
        </p:nvSpPr>
        <p:spPr>
          <a:xfrm>
            <a:off x="457200" y="4453128"/>
            <a:ext cx="169164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45312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Supply Chain</a:t>
            </a:r>
            <a:endParaRPr lang="en-US" sz="970"/>
          </a:p>
        </p:txBody>
      </p:sp>
      <p:sp>
        <p:nvSpPr>
          <p:cNvPr id="38" name="Shape 36"/>
          <p:cNvSpPr/>
          <p:nvPr/>
        </p:nvSpPr>
        <p:spPr>
          <a:xfrm>
            <a:off x="2148840" y="4453128"/>
            <a:ext cx="288036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4453128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ahead, not just react</a:t>
            </a:r>
            <a:endParaRPr lang="en-US" sz="970"/>
          </a:p>
        </p:txBody>
      </p:sp>
      <p:sp>
        <p:nvSpPr>
          <p:cNvPr id="40" name="Shape 38"/>
          <p:cNvSpPr/>
          <p:nvPr/>
        </p:nvSpPr>
        <p:spPr>
          <a:xfrm>
            <a:off x="5029200" y="4453128"/>
            <a:ext cx="448056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4453128"/>
            <a:ext cx="4334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planning, supplier management, logistics, forecasting, replenishment</a:t>
            </a:r>
            <a:endParaRPr lang="en-US" sz="970"/>
          </a:p>
        </p:txBody>
      </p:sp>
      <p:sp>
        <p:nvSpPr>
          <p:cNvPr id="42" name="Shape 40"/>
          <p:cNvSpPr/>
          <p:nvPr/>
        </p:nvSpPr>
        <p:spPr>
          <a:xfrm>
            <a:off x="9509760" y="4453128"/>
            <a:ext cx="228600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82912" y="4453128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plan reflects real demand signals</a:t>
            </a:r>
            <a:endParaRPr lang="en-US" sz="970"/>
          </a:p>
        </p:txBody>
      </p:sp>
      <p:sp>
        <p:nvSpPr>
          <p:cNvPr id="44" name="Shape 42"/>
          <p:cNvSpPr/>
          <p:nvPr/>
        </p:nvSpPr>
        <p:spPr>
          <a:xfrm>
            <a:off x="457200" y="5321808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532180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Asset &amp; Facility Mgmt</a:t>
            </a:r>
            <a:endParaRPr lang="en-US" sz="970"/>
          </a:p>
        </p:txBody>
      </p:sp>
      <p:sp>
        <p:nvSpPr>
          <p:cNvPr id="46" name="Shape 44"/>
          <p:cNvSpPr/>
          <p:nvPr/>
        </p:nvSpPr>
        <p:spPr>
          <a:xfrm>
            <a:off x="2148840" y="5321808"/>
            <a:ext cx="2880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21992" y="5321808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the company owns</a:t>
            </a:r>
            <a:endParaRPr lang="en-US" sz="970"/>
          </a:p>
        </p:txBody>
      </p:sp>
      <p:sp>
        <p:nvSpPr>
          <p:cNvPr id="48" name="Shape 46"/>
          <p:cNvSpPr/>
          <p:nvPr/>
        </p:nvSpPr>
        <p:spPr>
          <a:xfrm>
            <a:off x="5029200" y="5321808"/>
            <a:ext cx="4480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5321808"/>
            <a:ext cx="4334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register, assignment, maintenance, depreciation, disposal</a:t>
            </a:r>
            <a:endParaRPr lang="en-US" sz="970"/>
          </a:p>
        </p:txBody>
      </p:sp>
      <p:sp>
        <p:nvSpPr>
          <p:cNvPr id="50" name="Shape 48"/>
          <p:cNvSpPr/>
          <p:nvPr/>
        </p:nvSpPr>
        <p:spPr>
          <a:xfrm>
            <a:off x="9509760" y="5321808"/>
            <a:ext cx="2286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82912" y="5321808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fixed asset has a full lifecycle record</a:t>
            </a:r>
            <a:endParaRPr lang="en-US" sz="970"/>
          </a:p>
        </p:txBody>
      </p:sp>
      <p:sp>
        <p:nvSpPr>
          <p:cNvPr id="52" name="Text 5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&amp; 4 · ENTERPRISE PLATFORM &amp; COMMERCIAL SAAS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/>
                <a:ea typeface="Cambria"/>
                <a:cs typeface="Cambria" pitchFamily="34" charset="-120"/>
              </a:rPr>
              <a:t>Phases 10–14 in detail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(future)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91640" cy="384048"/>
          </a:xfrm>
          <a:prstGeom prst="rect">
            <a:avLst/>
          </a:prstGeom>
          <a:solidFill>
            <a:srgbClr val="B7862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417320"/>
            <a:ext cx="1545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2880360" cy="384048"/>
          </a:xfrm>
          <a:prstGeom prst="rect">
            <a:avLst/>
          </a:prstGeom>
          <a:solidFill>
            <a:srgbClr val="B7862C"/>
          </a:solidFill>
          <a:ln/>
        </p:spPr>
      </p:sp>
      <p:sp>
        <p:nvSpPr>
          <p:cNvPr id="7" name="Text 5"/>
          <p:cNvSpPr/>
          <p:nvPr/>
        </p:nvSpPr>
        <p:spPr>
          <a:xfrm>
            <a:off x="2221992" y="1417320"/>
            <a:ext cx="2734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4480560" cy="384048"/>
          </a:xfrm>
          <a:prstGeom prst="rect">
            <a:avLst/>
          </a:prstGeom>
          <a:solidFill>
            <a:srgbClr val="B7862C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417320"/>
            <a:ext cx="4334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Scope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9509760" y="1417320"/>
            <a:ext cx="2286000" cy="384048"/>
          </a:xfrm>
          <a:prstGeom prst="rect">
            <a:avLst/>
          </a:prstGeom>
          <a:solidFill>
            <a:srgbClr val="B7862C"/>
          </a:solidFill>
          <a:ln/>
        </p:spPr>
      </p:sp>
      <p:sp>
        <p:nvSpPr>
          <p:cNvPr id="11" name="Text 9"/>
          <p:cNvSpPr/>
          <p:nvPr/>
        </p:nvSpPr>
        <p:spPr>
          <a:xfrm>
            <a:off x="9582912" y="141732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1691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01368"/>
            <a:ext cx="1545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Advanced Finance</a:t>
            </a:r>
            <a:endParaRPr lang="en-US" sz="970"/>
          </a:p>
        </p:txBody>
      </p:sp>
      <p:sp>
        <p:nvSpPr>
          <p:cNvPr id="14" name="Shape 12"/>
          <p:cNvSpPr/>
          <p:nvPr/>
        </p:nvSpPr>
        <p:spPr>
          <a:xfrm>
            <a:off x="2148840" y="1801368"/>
            <a:ext cx="2880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1801368"/>
            <a:ext cx="2734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financial control</a:t>
            </a:r>
            <a:endParaRPr lang="en-US" sz="970"/>
          </a:p>
        </p:txBody>
      </p:sp>
      <p:sp>
        <p:nvSpPr>
          <p:cNvPr id="16" name="Shape 14"/>
          <p:cNvSpPr/>
          <p:nvPr/>
        </p:nvSpPr>
        <p:spPr>
          <a:xfrm>
            <a:off x="5029200" y="1801368"/>
            <a:ext cx="44805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801368"/>
            <a:ext cx="4334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budgeting, forecasting, cash flow, multi-company, multi-currency, intercompany, financial close</a:t>
            </a:r>
            <a:endParaRPr lang="en-US" sz="970"/>
          </a:p>
        </p:txBody>
      </p:sp>
      <p:sp>
        <p:nvSpPr>
          <p:cNvPr id="18" name="Shape 16"/>
          <p:cNvSpPr/>
          <p:nvPr/>
        </p:nvSpPr>
        <p:spPr>
          <a:xfrm>
            <a:off x="9509760" y="1801368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1801368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 close completes on schedule</a:t>
            </a:r>
            <a:endParaRPr lang="en-US" sz="970"/>
          </a:p>
        </p:txBody>
      </p:sp>
      <p:sp>
        <p:nvSpPr>
          <p:cNvPr id="20" name="Shape 18"/>
          <p:cNvSpPr/>
          <p:nvPr/>
        </p:nvSpPr>
        <p:spPr>
          <a:xfrm>
            <a:off x="457200" y="2624328"/>
            <a:ext cx="1691640" cy="82296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624328"/>
            <a:ext cx="1545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Advanced HR</a:t>
            </a:r>
            <a:endParaRPr lang="en-US" sz="970"/>
          </a:p>
        </p:txBody>
      </p:sp>
      <p:sp>
        <p:nvSpPr>
          <p:cNvPr id="22" name="Shape 20"/>
          <p:cNvSpPr/>
          <p:nvPr/>
        </p:nvSpPr>
        <p:spPr>
          <a:xfrm>
            <a:off x="2148840" y="2624328"/>
            <a:ext cx="2880360" cy="82296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624328"/>
            <a:ext cx="2734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HCM, not just leave and attendance</a:t>
            </a:r>
            <a:endParaRPr lang="en-US" sz="970"/>
          </a:p>
        </p:txBody>
      </p:sp>
      <p:sp>
        <p:nvSpPr>
          <p:cNvPr id="24" name="Shape 22"/>
          <p:cNvSpPr/>
          <p:nvPr/>
        </p:nvSpPr>
        <p:spPr>
          <a:xfrm>
            <a:off x="5029200" y="2624328"/>
            <a:ext cx="4480560" cy="82296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624328"/>
            <a:ext cx="4334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Recruitment, onboarding, payroll (incl. PF/ESIC/PT/TDS), performance, training, workforce analytics</a:t>
            </a:r>
            <a:endParaRPr lang="en-US" sz="970"/>
          </a:p>
        </p:txBody>
      </p:sp>
      <p:sp>
        <p:nvSpPr>
          <p:cNvPr id="26" name="Shape 24"/>
          <p:cNvSpPr/>
          <p:nvPr/>
        </p:nvSpPr>
        <p:spPr>
          <a:xfrm>
            <a:off x="9509760" y="2624328"/>
            <a:ext cx="2286000" cy="82296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82912" y="2624328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runs inside NEXORA, statutory-compliant</a:t>
            </a:r>
            <a:endParaRPr lang="en-US" sz="970"/>
          </a:p>
        </p:txBody>
      </p:sp>
      <p:sp>
        <p:nvSpPr>
          <p:cNvPr id="28" name="Shape 26"/>
          <p:cNvSpPr/>
          <p:nvPr/>
        </p:nvSpPr>
        <p:spPr>
          <a:xfrm>
            <a:off x="457200" y="3447288"/>
            <a:ext cx="1691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447288"/>
            <a:ext cx="1545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Manufacturing (optional)</a:t>
            </a:r>
            <a:endParaRPr lang="en-US" sz="970"/>
          </a:p>
        </p:txBody>
      </p:sp>
      <p:sp>
        <p:nvSpPr>
          <p:cNvPr id="30" name="Shape 28"/>
          <p:cNvSpPr/>
          <p:nvPr/>
        </p:nvSpPr>
        <p:spPr>
          <a:xfrm>
            <a:off x="2148840" y="3447288"/>
            <a:ext cx="2880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3447288"/>
            <a:ext cx="2734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commercial demand justifies it</a:t>
            </a:r>
            <a:endParaRPr lang="en-US" sz="970"/>
          </a:p>
        </p:txBody>
      </p:sp>
      <p:sp>
        <p:nvSpPr>
          <p:cNvPr id="32" name="Shape 30"/>
          <p:cNvSpPr/>
          <p:nvPr/>
        </p:nvSpPr>
        <p:spPr>
          <a:xfrm>
            <a:off x="5029200" y="3447288"/>
            <a:ext cx="44805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447288"/>
            <a:ext cx="4334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work orders, MRP, quality, maintenance, production costing</a:t>
            </a:r>
            <a:endParaRPr lang="en-US" sz="970"/>
          </a:p>
        </p:txBody>
      </p:sp>
      <p:sp>
        <p:nvSpPr>
          <p:cNvPr id="34" name="Shape 32"/>
          <p:cNvSpPr/>
          <p:nvPr/>
        </p:nvSpPr>
        <p:spPr>
          <a:xfrm>
            <a:off x="9509760" y="3447288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82912" y="3447288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behind explicit market validation</a:t>
            </a:r>
            <a:endParaRPr lang="en-US" sz="970"/>
          </a:p>
        </p:txBody>
      </p:sp>
      <p:sp>
        <p:nvSpPr>
          <p:cNvPr id="36" name="Shape 34"/>
          <p:cNvSpPr/>
          <p:nvPr/>
        </p:nvSpPr>
        <p:spPr>
          <a:xfrm>
            <a:off x="457200" y="4270248"/>
            <a:ext cx="1691640" cy="91440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270248"/>
            <a:ext cx="1545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BI + AI</a:t>
            </a:r>
            <a:endParaRPr lang="en-US" sz="970"/>
          </a:p>
        </p:txBody>
      </p:sp>
      <p:sp>
        <p:nvSpPr>
          <p:cNvPr id="38" name="Shape 36"/>
          <p:cNvSpPr/>
          <p:nvPr/>
        </p:nvSpPr>
        <p:spPr>
          <a:xfrm>
            <a:off x="2148840" y="4270248"/>
            <a:ext cx="2880360" cy="91440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4270248"/>
            <a:ext cx="2734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reporting to explanation</a:t>
            </a:r>
            <a:endParaRPr lang="en-US" sz="970"/>
          </a:p>
        </p:txBody>
      </p:sp>
      <p:sp>
        <p:nvSpPr>
          <p:cNvPr id="40" name="Shape 38"/>
          <p:cNvSpPr/>
          <p:nvPr/>
        </p:nvSpPr>
        <p:spPr>
          <a:xfrm>
            <a:off x="5029200" y="4270248"/>
            <a:ext cx="4480560" cy="91440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4270248"/>
            <a:ext cx="4334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→ management → predictive analytics; document intelligence, anomaly detection, forecasting, early agentic workflows</a:t>
            </a:r>
            <a:endParaRPr lang="en-US" sz="970"/>
          </a:p>
        </p:txBody>
      </p:sp>
      <p:sp>
        <p:nvSpPr>
          <p:cNvPr id="42" name="Shape 40"/>
          <p:cNvSpPr/>
          <p:nvPr/>
        </p:nvSpPr>
        <p:spPr>
          <a:xfrm>
            <a:off x="9509760" y="4270248"/>
            <a:ext cx="2286000" cy="914400"/>
          </a:xfrm>
          <a:prstGeom prst="rect">
            <a:avLst/>
          </a:prstGeom>
          <a:solidFill>
            <a:srgbClr val="F2F6FB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82912" y="4270248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can explain “why”, not just “what”</a:t>
            </a:r>
            <a:endParaRPr lang="en-US" sz="970"/>
          </a:p>
        </p:txBody>
      </p:sp>
      <p:sp>
        <p:nvSpPr>
          <p:cNvPr id="44" name="Shape 42"/>
          <p:cNvSpPr/>
          <p:nvPr/>
        </p:nvSpPr>
        <p:spPr>
          <a:xfrm>
            <a:off x="457200" y="5184648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5184648"/>
            <a:ext cx="15453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Commercial SaaS Platform</a:t>
            </a:r>
            <a:endParaRPr lang="en-US" sz="970"/>
          </a:p>
        </p:txBody>
      </p:sp>
      <p:sp>
        <p:nvSpPr>
          <p:cNvPr id="46" name="Shape 44"/>
          <p:cNvSpPr/>
          <p:nvPr/>
        </p:nvSpPr>
        <p:spPr>
          <a:xfrm>
            <a:off x="2148840" y="5184648"/>
            <a:ext cx="2880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21992" y="5184648"/>
            <a:ext cx="2734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externally sellable</a:t>
            </a:r>
            <a:endParaRPr lang="en-US" sz="970"/>
          </a:p>
        </p:txBody>
      </p:sp>
      <p:sp>
        <p:nvSpPr>
          <p:cNvPr id="48" name="Shape 46"/>
          <p:cNvSpPr/>
          <p:nvPr/>
        </p:nvSpPr>
        <p:spPr>
          <a:xfrm>
            <a:off x="5029200" y="5184648"/>
            <a:ext cx="4480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5184648"/>
            <a:ext cx="43342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subscription plans (Starter/Professional/Enterprise), module licensing, self-serve tenant onboarding</a:t>
            </a:r>
            <a:endParaRPr lang="en-US" sz="970"/>
          </a:p>
        </p:txBody>
      </p:sp>
      <p:sp>
        <p:nvSpPr>
          <p:cNvPr id="50" name="Shape 48"/>
          <p:cNvSpPr/>
          <p:nvPr/>
        </p:nvSpPr>
        <p:spPr>
          <a:xfrm>
            <a:off x="9509760" y="5184648"/>
            <a:ext cx="22860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82912" y="5184648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7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customer reaches their first transaction with no engineering involvement</a:t>
            </a:r>
            <a:endParaRPr lang="en-US" sz="970"/>
          </a:p>
        </p:txBody>
      </p:sp>
      <p:sp>
        <p:nvSpPr>
          <p:cNvPr id="52" name="Text 5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track, from day one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0260" y="17830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97" y="18489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of targeted users active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37860" y="178308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697" y="184891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efficiency</a:t>
            </a:r>
            <a:endParaRPr lang="en-US" sz="1250"/>
          </a:p>
        </p:txBody>
      </p:sp>
      <p:sp>
        <p:nvSpPr>
          <p:cNvPr id="13" name="Text 9"/>
          <p:cNvSpPr/>
          <p:nvPr/>
        </p:nvSpPr>
        <p:spPr>
          <a:xfrm>
            <a:off x="452628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reimbursement time ↓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7955280" y="15544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95460" y="1783080"/>
            <a:ext cx="548640" cy="548640"/>
          </a:xfrm>
          <a:prstGeom prst="ellipse">
            <a:avLst/>
          </a:prstGeom>
          <a:solidFill>
            <a:srgbClr val="B7862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297" y="184891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accuracy</a:t>
            </a:r>
            <a:endParaRPr lang="en-US" sz="1250"/>
          </a:p>
        </p:txBody>
      </p:sp>
      <p:sp>
        <p:nvSpPr>
          <p:cNvPr id="18" name="Text 13"/>
          <p:cNvSpPr/>
          <p:nvPr/>
        </p:nvSpPr>
        <p:spPr>
          <a:xfrm>
            <a:off x="818388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errors ↓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080260" y="4142232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097" y="4208069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28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250"/>
          </a:p>
        </p:txBody>
      </p:sp>
      <p:sp>
        <p:nvSpPr>
          <p:cNvPr id="23" name="Text 17"/>
          <p:cNvSpPr/>
          <p:nvPr/>
        </p:nvSpPr>
        <p:spPr>
          <a:xfrm>
            <a:off x="868680" y="519379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latency, uptime, error rate</a:t>
            </a:r>
            <a:endParaRPr lang="en-US" sz="1050"/>
          </a:p>
        </p:txBody>
      </p:sp>
      <p:sp>
        <p:nvSpPr>
          <p:cNvPr id="24" name="Shape 18"/>
          <p:cNvSpPr/>
          <p:nvPr/>
        </p:nvSpPr>
        <p:spPr>
          <a:xfrm>
            <a:off x="4297680" y="391363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37860" y="4142232"/>
            <a:ext cx="548640" cy="548640"/>
          </a:xfrm>
          <a:prstGeom prst="ellipse">
            <a:avLst/>
          </a:prstGeom>
          <a:solidFill>
            <a:srgbClr val="A32D2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3697" y="4208069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828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readiness</a:t>
            </a:r>
            <a:endParaRPr lang="en-US" sz="1250"/>
          </a:p>
        </p:txBody>
      </p:sp>
      <p:sp>
        <p:nvSpPr>
          <p:cNvPr id="28" name="Text 21"/>
          <p:cNvSpPr/>
          <p:nvPr/>
        </p:nvSpPr>
        <p:spPr>
          <a:xfrm>
            <a:off x="4526280" y="519379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functionality configurable, no code</a:t>
            </a:r>
            <a:endParaRPr lang="en-US" sz="1050"/>
          </a:p>
        </p:txBody>
      </p:sp>
      <p:sp>
        <p:nvSpPr>
          <p:cNvPr id="29" name="Shape 22"/>
          <p:cNvSpPr/>
          <p:nvPr/>
        </p:nvSpPr>
        <p:spPr>
          <a:xfrm>
            <a:off x="7955280" y="391363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0DFD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395460" y="4142232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1297" y="4208069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828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north star</a:t>
            </a:r>
            <a:endParaRPr lang="en-US" sz="1250"/>
          </a:p>
        </p:txBody>
      </p:sp>
      <p:sp>
        <p:nvSpPr>
          <p:cNvPr id="33" name="Text 25"/>
          <p:cNvSpPr/>
          <p:nvPr/>
        </p:nvSpPr>
        <p:spPr>
          <a:xfrm>
            <a:off x="8183880" y="519379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Time-to-First-Transaction for a new customer</a:t>
            </a:r>
            <a:endParaRPr lang="en-US" sz="105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keep this on track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A32D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1872691"/>
            <a:ext cx="277978" cy="2779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8470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explosion beyond Phase 1 → strict module gates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A32D2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2649931"/>
            <a:ext cx="277978" cy="2779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6243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migration issues → parallel validation before cutover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A32D2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3427171"/>
            <a:ext cx="277978" cy="2779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4015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Hard-coded, customer-specific rules → configuration engine first</a:t>
            </a:r>
            <a:endParaRPr lang="en-US" sz="1150"/>
          </a:p>
        </p:txBody>
      </p:sp>
      <p:sp>
        <p:nvSpPr>
          <p:cNvPr id="14" name="Shape 9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A32D2D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4204411"/>
            <a:ext cx="277978" cy="2779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41788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becomes internal-only → explicit governance + multi-tenancy architecture</a:t>
            </a:r>
            <a:endParaRPr lang="en-US" sz="1150"/>
          </a:p>
        </p:txBody>
      </p:sp>
      <p:sp>
        <p:nvSpPr>
          <p:cNvPr id="17" name="Text 11"/>
          <p:cNvSpPr/>
          <p:nvPr/>
        </p:nvSpPr>
        <p:spPr>
          <a:xfrm>
            <a:off x="6035040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1250"/>
          </a:p>
        </p:txBody>
      </p:sp>
      <p:sp>
        <p:nvSpPr>
          <p:cNvPr id="18" name="Shape 12"/>
          <p:cNvSpPr/>
          <p:nvPr/>
        </p:nvSpPr>
        <p:spPr>
          <a:xfrm>
            <a:off x="6035040" y="18288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2F6FB"/>
          </a:solidFill>
          <a:ln/>
        </p:spPr>
      </p:sp>
      <p:sp>
        <p:nvSpPr>
          <p:cNvPr id="19" name="Text 13"/>
          <p:cNvSpPr/>
          <p:nvPr/>
        </p:nvSpPr>
        <p:spPr>
          <a:xfrm>
            <a:off x="626364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Steering Committee</a:t>
            </a:r>
            <a:endParaRPr lang="en-US" sz="1300"/>
          </a:p>
        </p:txBody>
      </p:sp>
      <p:sp>
        <p:nvSpPr>
          <p:cNvPr id="20" name="Shape 14"/>
          <p:cNvSpPr/>
          <p:nvPr/>
        </p:nvSpPr>
        <p:spPr>
          <a:xfrm>
            <a:off x="6309360" y="2487168"/>
            <a:ext cx="91440" cy="914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1" name="Text 15"/>
          <p:cNvSpPr/>
          <p:nvPr/>
        </p:nvSpPr>
        <p:spPr>
          <a:xfrm>
            <a:off x="6492240" y="2377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50"/>
          </a:p>
        </p:txBody>
      </p:sp>
      <p:sp>
        <p:nvSpPr>
          <p:cNvPr id="22" name="Shape 16"/>
          <p:cNvSpPr/>
          <p:nvPr/>
        </p:nvSpPr>
        <p:spPr>
          <a:xfrm>
            <a:off x="6309360" y="2852928"/>
            <a:ext cx="91440" cy="914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3" name="Text 17"/>
          <p:cNvSpPr/>
          <p:nvPr/>
        </p:nvSpPr>
        <p:spPr>
          <a:xfrm>
            <a:off x="6492240" y="2743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</a:t>
            </a:r>
            <a:endParaRPr lang="en-US" sz="1150"/>
          </a:p>
        </p:txBody>
      </p:sp>
      <p:sp>
        <p:nvSpPr>
          <p:cNvPr id="24" name="Shape 18"/>
          <p:cNvSpPr/>
          <p:nvPr/>
        </p:nvSpPr>
        <p:spPr>
          <a:xfrm>
            <a:off x="6309360" y="3218688"/>
            <a:ext cx="91440" cy="914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5" name="Text 19"/>
          <p:cNvSpPr/>
          <p:nvPr/>
        </p:nvSpPr>
        <p:spPr>
          <a:xfrm>
            <a:off x="6492240" y="3108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Rep.</a:t>
            </a:r>
            <a:endParaRPr lang="en-US" sz="1150"/>
          </a:p>
        </p:txBody>
      </p:sp>
      <p:sp>
        <p:nvSpPr>
          <p:cNvPr id="26" name="Shape 20"/>
          <p:cNvSpPr/>
          <p:nvPr/>
        </p:nvSpPr>
        <p:spPr>
          <a:xfrm>
            <a:off x="6309360" y="3584448"/>
            <a:ext cx="91440" cy="914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7" name="Text 21"/>
          <p:cNvSpPr/>
          <p:nvPr/>
        </p:nvSpPr>
        <p:spPr>
          <a:xfrm>
            <a:off x="6492240" y="3474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Rep.</a:t>
            </a:r>
            <a:endParaRPr lang="en-US" sz="1150"/>
          </a:p>
        </p:txBody>
      </p:sp>
      <p:sp>
        <p:nvSpPr>
          <p:cNvPr id="28" name="Shape 22"/>
          <p:cNvSpPr/>
          <p:nvPr/>
        </p:nvSpPr>
        <p:spPr>
          <a:xfrm>
            <a:off x="6309360" y="3950208"/>
            <a:ext cx="91440" cy="914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9" name="Text 23"/>
          <p:cNvSpPr/>
          <p:nvPr/>
        </p:nvSpPr>
        <p:spPr>
          <a:xfrm>
            <a:off x="649224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Rep.</a:t>
            </a:r>
            <a:endParaRPr lang="en-US" sz="1150"/>
          </a:p>
        </p:txBody>
      </p:sp>
      <p:sp>
        <p:nvSpPr>
          <p:cNvPr id="30" name="Shape 24"/>
          <p:cNvSpPr/>
          <p:nvPr/>
        </p:nvSpPr>
        <p:spPr>
          <a:xfrm>
            <a:off x="6309360" y="4315968"/>
            <a:ext cx="91440" cy="914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1" name="Text 25"/>
          <p:cNvSpPr/>
          <p:nvPr/>
        </p:nvSpPr>
        <p:spPr>
          <a:xfrm>
            <a:off x="6492240" y="4206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Reps.</a:t>
            </a:r>
            <a:endParaRPr lang="en-US" sz="1150"/>
          </a:p>
        </p:txBody>
      </p:sp>
      <p:sp>
        <p:nvSpPr>
          <p:cNvPr id="32" name="Text 26"/>
          <p:cNvSpPr/>
          <p:nvPr/>
        </p:nvSpPr>
        <p:spPr>
          <a:xfrm>
            <a:off x="6263640" y="4754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requirement → evaluation → architecture review → development → UAT → release</a:t>
            </a:r>
            <a:endParaRPr lang="en-US" sz="1050"/>
          </a:p>
        </p:txBody>
      </p:sp>
      <p:sp>
        <p:nvSpPr>
          <p:cNvPr id="33" name="Text 2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ln w="15875">
            <a:solidFill>
              <a:srgbClr val="2E5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STATEMENT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engine. Every process.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is not an internal application that might later become a product. It is a commercial ERP platform, with our organization as its first production environment. Phase 1 ends our dependency on Zoho — every phase after expands toward a complete ERP covering Finance, HR, Procurement, Inventory, Sales, Projects, Supply Chain, Assets, Analytics, and AI.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 is not the number of screens we build. It is the engine underneath them.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 ·  Next-generation enterprise operations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NEXORA</dc:creator>
  <cp:revision>1</cp:revision>
  <dcterms:created xsi:type="dcterms:W3CDTF">2026-08-30T18:06:43Z</dcterms:created>
  <dcterms:modified xsi:type="dcterms:W3CDTF">2026-09-01T07:27:38Z</dcterms:modified>
</cp:coreProperties>
</file>